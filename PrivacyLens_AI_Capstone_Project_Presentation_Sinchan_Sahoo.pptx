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12" r:id="rId4"/>
  </p:sldMasterIdLst>
  <p:notesMasterIdLst>
    <p:notesMasterId r:id="rId22"/>
  </p:notesMasterIdLst>
  <p:sldIdLst>
    <p:sldId id="256" r:id="rId5"/>
    <p:sldId id="2146847054" r:id="rId6"/>
    <p:sldId id="262" r:id="rId7"/>
    <p:sldId id="263" r:id="rId8"/>
    <p:sldId id="265" r:id="rId9"/>
    <p:sldId id="266" r:id="rId10"/>
    <p:sldId id="267" r:id="rId11"/>
    <p:sldId id="2146847057" r:id="rId12"/>
    <p:sldId id="2146847058" r:id="rId13"/>
    <p:sldId id="2146847059" r:id="rId14"/>
    <p:sldId id="2146847060" r:id="rId15"/>
    <p:sldId id="2146847061" r:id="rId16"/>
    <p:sldId id="268" r:id="rId17"/>
    <p:sldId id="2146847055" r:id="rId18"/>
    <p:sldId id="269" r:id="rId19"/>
    <p:sldId id="2146847056" r:id="rId20"/>
    <p:sldId id="259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2BA97"/>
    <a:srgbClr val="8E6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5EC2134-FE55-D600-31C0-C82AB450B7AA}" v="39" dt="2026-08-09T17:41:19.11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5" d="100"/>
          <a:sy n="75" d="100"/>
        </p:scale>
        <p:origin x="946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ableStyles" Target="tableStyle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notesMaster" Target="notesMasters/notesMaster1.xml"/><Relationship Id="rId27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6256A78-79A6-408F-8148-4F87BB81602D}" type="datetimeFigureOut">
              <a:rPr lang="en-IN" smtClean="0"/>
              <a:t>14-09-2026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7E254F1-4415-47BF-9E91-C5D4B9A3335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380084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E254F1-4415-47BF-9E91-C5D4B9A33350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568845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E254F1-4415-47BF-9E91-C5D4B9A33350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932678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4"/>
            <a:ext cx="11298932" cy="3338149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FA0ACE7-29A8-47D3-A7D9-257B711D80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91B17-9318-49DB-B28B-6E5994AE9581}" type="datetime1">
              <a:rPr lang="en-US" smtClean="0"/>
              <a:t>9/14/2026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DEC604B9-52E9-4810-8359-47206518D0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898A89F-CA25-400F-B05A-AECBF2517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00175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53029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1302026"/>
            <a:ext cx="11029615" cy="467332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70E6237-3456-439F-802D-3BA93FC7E3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DD82B9-B8EE-4375-B6FF-88FA6ABB15D9}" type="datetime1">
              <a:rPr lang="en-US" smtClean="0"/>
              <a:t>9/14/2026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24434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2393950"/>
            <a:ext cx="11029615" cy="214746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1582016-5696-4A93-887F-BBB3B9002F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497495-0637-405E-AE64-5CC7506D51F5}" type="datetime1">
              <a:rPr lang="en-US" smtClean="0"/>
              <a:t>9/14/2026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57CFCD5-1192-4E18-8A8F-29E153B44D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E39A109E-5018-4794-92B3-FD5E5BCD95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6809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49285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1391479"/>
            <a:ext cx="5194767" cy="446957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6039" y="1391479"/>
            <a:ext cx="5194769" cy="446957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FFD690-9426-415D-8B65-26881E07B2D4}" type="datetime1">
              <a:rPr lang="en-US" smtClean="0"/>
              <a:t>9/14/2026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33232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1" y="2250891"/>
            <a:ext cx="5194769" cy="557784"/>
          </a:xfrm>
        </p:spPr>
        <p:txBody>
          <a:bodyPr anchor="ctr">
            <a:noAutofit/>
          </a:bodyPr>
          <a:lstStyle>
            <a:lvl1pPr marL="0" indent="0">
              <a:buNone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194766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6039" y="2250892"/>
            <a:ext cx="5194770" cy="553373"/>
          </a:xfrm>
        </p:spPr>
        <p:txBody>
          <a:bodyPr anchor="ctr">
            <a:no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6037" y="2926052"/>
            <a:ext cx="5194771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C4989A-474C-40DE-95B9-011C28B71673}" type="datetime1">
              <a:rPr lang="en-US" smtClean="0"/>
              <a:t>9/14/2026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80465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59224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4ED54-5B5E-4A04-93D3-5772E3CE3818}" type="datetime1">
              <a:rPr lang="en-US" smtClean="0"/>
              <a:t>9/14/2026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9363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DE50D6-574B-40AF-946F-D52A04ADE379}" type="datetime1">
              <a:rPr lang="en-US" smtClean="0"/>
              <a:t>9/14/2026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94949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601200"/>
            <a:ext cx="3682723" cy="5815475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7857" y="933450"/>
            <a:ext cx="3031852" cy="1722419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00928" y="1179829"/>
            <a:ext cx="6650991" cy="4658216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7857" y="2836654"/>
            <a:ext cx="3031852" cy="3001392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rgbClr val="FFFFFF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0B919CC2-2A65-446F-B538-9E624903544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05951" y="6456916"/>
            <a:ext cx="2844799" cy="365125"/>
          </a:xfrm>
        </p:spPr>
        <p:txBody>
          <a:bodyPr/>
          <a:lstStyle/>
          <a:p>
            <a:fld id="{D82884F1-FFEA-405F-9602-3DCA865EDA4E}" type="datetime1">
              <a:rPr lang="en-US" smtClean="0"/>
              <a:t>9/14/2026</a:t>
            </a:fld>
            <a:endParaRPr lang="en-US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B72412AE-119E-4982-8B24-63365EFCA7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52590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7FC4BB19-6AD1-45CF-9F99-00B109890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0" y="6456916"/>
            <a:ext cx="1052510" cy="365125"/>
          </a:xfrm>
        </p:spPr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17666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641350"/>
            <a:ext cx="11290859" cy="3651249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998148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8DB4A-8810-4A10-AD5C-D5E2C667F5B3}" type="datetime1">
              <a:rPr lang="en-US" smtClean="0"/>
              <a:t>9/14/2026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pPr algn="l"/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32895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ED4963-E985-44C4-B8C4-FDD613B7C2F8}" type="datetime1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35911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058151" y="599725"/>
            <a:ext cx="3687316" cy="5816950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204200" y="863600"/>
            <a:ext cx="3124200" cy="4807326"/>
          </a:xfrm>
        </p:spPr>
        <p:txBody>
          <a:bodyPr vert="eaVert" anchor="ctr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863600"/>
            <a:ext cx="7161625" cy="4807326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6423B97-A5D4-47B9-8861-73B3707A04CF}"/>
              </a:ext>
            </a:extLst>
          </p:cNvPr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AEC0421-37B4-4481-A10D-69FDF5EC7909}"/>
              </a:ext>
            </a:extLst>
          </p:cNvPr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F7265B5-9F97-4F1E-99E9-74F7B7E62337}"/>
              </a:ext>
            </a:extLst>
          </p:cNvPr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5C74A470-3BD3-4F33-80E5-67E6E87FCB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91B17-9318-49DB-B28B-6E5994AE9581}" type="datetime1">
              <a:rPr lang="en-US" smtClean="0"/>
              <a:t>9/14/2026</a:t>
            </a:fld>
            <a:endParaRPr lang="en-US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9A3A30BA-DB50-4D7D-BCDE-17D20FB354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76FF9E58-C0B2-436B-A21C-DB45A00D6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88496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55714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1415198"/>
            <a:ext cx="11029616" cy="457285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6423914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ED291B17-9318-49DB-B28B-6E5994AE9581}" type="datetime1">
              <a:rPr lang="en-US" smtClean="0"/>
              <a:t>9/14/2026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6423914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pic>
        <p:nvPicPr>
          <p:cNvPr id="8" name="Picture 7" descr="Logo&#10;&#10;Description automatically generated">
            <a:extLst>
              <a:ext uri="{FF2B5EF4-FFF2-40B4-BE49-F238E27FC236}">
                <a16:creationId xmlns:a16="http://schemas.microsoft.com/office/drawing/2014/main" id="{14A64E4D-8DED-7830-2955-1BE78C5B0655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10485003" y="6437910"/>
            <a:ext cx="1125805" cy="3651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08978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6" r:id="rId1"/>
    <p:sldLayoutId id="2147483757" r:id="rId2"/>
    <p:sldLayoutId id="2147483758" r:id="rId3"/>
    <p:sldLayoutId id="2147483759" r:id="rId4"/>
    <p:sldLayoutId id="2147483711" r:id="rId5"/>
    <p:sldLayoutId id="2147483760" r:id="rId6"/>
    <p:sldLayoutId id="2147483762" r:id="rId7"/>
    <p:sldLayoutId id="2147483706" r:id="rId8"/>
    <p:sldLayoutId id="2147483709" r:id="rId9"/>
    <p:sldLayoutId id="2147483707" r:id="rId10"/>
    <p:sldLayoutId id="2147483708" r:id="rId11"/>
  </p:sldLayoutIdLst>
  <p:hf sldNum="0" hdr="0" ftr="0" dt="0"/>
  <p:txStyles>
    <p:titleStyle>
      <a:lvl1pPr algn="l" defTabSz="457200" rtl="0" eaLnBrk="1" latinLnBrk="0" hangingPunct="1">
        <a:lnSpc>
          <a:spcPct val="100000"/>
        </a:lnSpc>
        <a:spcBef>
          <a:spcPct val="0"/>
        </a:spcBef>
        <a:buNone/>
        <a:defRPr sz="2800" b="0" kern="1200" cap="all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lnSpc>
          <a:spcPct val="110000"/>
        </a:lnSpc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7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1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1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privacylens-ai-mdzp4p687cfsgf2stwspam.streamlit.app/" TargetMode="External"/><Relationship Id="rId2" Type="http://schemas.openxmlformats.org/officeDocument/2006/relationships/hyperlink" Target="https://github.com/sinchan85707764/PrivacyLens-AI.git" TargetMode="Externa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A11E26-4C38-41A6-9857-11032CEECD8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41855" y="2375152"/>
            <a:ext cx="9144000" cy="977778"/>
          </a:xfrm>
        </p:spPr>
        <p:txBody>
          <a:bodyPr>
            <a:noAutofit/>
          </a:bodyPr>
          <a:lstStyle/>
          <a:p>
            <a:pPr algn="ctr"/>
            <a:r>
              <a:rPr lang="en-IN" sz="2800" b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PrivacyLens AI: Session-Only Digital Privacy Intelligence &amp; Content Exposure Analyzer</a:t>
            </a:r>
            <a:br>
              <a:rPr lang="en-IN" sz="280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US" sz="2800" b="1" dirty="0">
              <a:solidFill>
                <a:schemeClr val="accent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-329782" y="1034321"/>
            <a:ext cx="12726648" cy="58477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Arial"/>
                <a:cs typeface="Arial"/>
              </a:rPr>
              <a:t>CAPSTONE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066729" y="3834525"/>
            <a:ext cx="7980183" cy="163121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Presented By:</a:t>
            </a:r>
          </a:p>
          <a:p>
            <a:pPr lvl="1"/>
            <a:r>
              <a:rPr lang="en-US" sz="2000" b="1" dirty="0">
                <a:solidFill>
                  <a:schemeClr val="bg1"/>
                </a:solidFill>
                <a:latin typeface="Arial"/>
                <a:cs typeface="Arial"/>
              </a:rPr>
              <a:t>Student Name- Sinchan Sahoo</a:t>
            </a:r>
          </a:p>
          <a:p>
            <a:pPr lvl="1"/>
            <a:r>
              <a:rPr lang="en-US" sz="2000" b="1" dirty="0">
                <a:solidFill>
                  <a:schemeClr val="bg1"/>
                </a:solidFill>
                <a:latin typeface="Arial"/>
                <a:cs typeface="Arial"/>
              </a:rPr>
              <a:t>College Name- University of Calcutta</a:t>
            </a:r>
          </a:p>
          <a:p>
            <a:pPr lvl="1"/>
            <a:r>
              <a:rPr lang="en-US" sz="2000" b="1" dirty="0">
                <a:solidFill>
                  <a:schemeClr val="bg1"/>
                </a:solidFill>
                <a:latin typeface="Arial"/>
                <a:cs typeface="Arial"/>
              </a:rPr>
              <a:t>Department- B.Sc in Chemistry</a:t>
            </a:r>
          </a:p>
          <a:p>
            <a:pPr lvl="1"/>
            <a:r>
              <a:rPr lang="en-US" sz="2000" b="1" dirty="0">
                <a:solidFill>
                  <a:schemeClr val="bg1"/>
                </a:solidFill>
                <a:latin typeface="Arial"/>
                <a:cs typeface="Arial"/>
              </a:rPr>
              <a:t>AICTE ID- </a:t>
            </a:r>
            <a:r>
              <a:rPr lang="en-IN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STU684844a0d086b1749566624</a:t>
            </a:r>
            <a:endParaRPr lang="en-US" sz="2000" b="1" dirty="0">
              <a:solidFill>
                <a:schemeClr val="bg1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9533255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FFEB4C-F209-4AE7-AA2B-B3C26CE2C5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9573" y="558468"/>
            <a:ext cx="10515600" cy="1325563"/>
          </a:xfrm>
        </p:spPr>
        <p:txBody>
          <a:bodyPr/>
          <a:lstStyle/>
          <a:p>
            <a:r>
              <a:rPr lang="en-US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678641-EEA3-4EC4-BF39-4075B0C120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18938"/>
            <a:ext cx="11019020" cy="5239062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en-US" sz="2000" b="1" dirty="0">
                <a:latin typeface="Arial"/>
                <a:ea typeface="+mn-lt"/>
                <a:cs typeface="Arial"/>
              </a:rPr>
              <a:t>  </a:t>
            </a:r>
            <a:endParaRPr lang="en-US" dirty="0">
              <a:latin typeface="Arial"/>
              <a:cs typeface="Arial"/>
            </a:endParaRPr>
          </a:p>
          <a:p>
            <a:r>
              <a:rPr lang="en-US" sz="2000" b="1" dirty="0">
                <a:latin typeface="Arial"/>
                <a:ea typeface="+mn-lt"/>
                <a:cs typeface="Arial"/>
              </a:rPr>
              <a:t>Problem Statement </a:t>
            </a:r>
            <a:endParaRPr lang="en-US" dirty="0">
              <a:latin typeface="Arial"/>
              <a:cs typeface="Arial"/>
            </a:endParaRPr>
          </a:p>
          <a:p>
            <a:r>
              <a:rPr lang="en-US" sz="2000" b="1" dirty="0">
                <a:latin typeface="Arial"/>
                <a:ea typeface="+mn-lt"/>
                <a:cs typeface="Arial"/>
              </a:rPr>
              <a:t>Proposed System/Solution</a:t>
            </a:r>
            <a:endParaRPr lang="en-US" dirty="0">
              <a:latin typeface="Arial"/>
              <a:cs typeface="Arial"/>
            </a:endParaRPr>
          </a:p>
          <a:p>
            <a:r>
              <a:rPr lang="en-US" sz="2000" b="1" dirty="0">
                <a:latin typeface="Arial"/>
                <a:ea typeface="+mn-lt"/>
                <a:cs typeface="Calibri"/>
              </a:rPr>
              <a:t>System </a:t>
            </a:r>
            <a:r>
              <a:rPr lang="en-US" sz="2000" b="1" dirty="0">
                <a:latin typeface="Arial"/>
                <a:ea typeface="+mn-lt"/>
                <a:cs typeface="+mn-lt"/>
              </a:rPr>
              <a:t>Development Approach </a:t>
            </a:r>
            <a:endParaRPr lang="en-US" dirty="0">
              <a:latin typeface="Arial"/>
              <a:ea typeface="+mn-lt"/>
              <a:cs typeface="+mn-lt"/>
            </a:endParaRPr>
          </a:p>
          <a:p>
            <a:r>
              <a:rPr lang="en-US" sz="2000" b="1" dirty="0">
                <a:latin typeface="Arial"/>
                <a:ea typeface="+mn-lt"/>
                <a:cs typeface="+mn-lt"/>
              </a:rPr>
              <a:t>Algorithm &amp; Deployment  </a:t>
            </a:r>
            <a:endParaRPr lang="en-US" dirty="0">
              <a:latin typeface="Arial"/>
              <a:cs typeface="Calibri"/>
            </a:endParaRPr>
          </a:p>
          <a:p>
            <a:r>
              <a:rPr lang="en-US" sz="2000" b="1" dirty="0">
                <a:latin typeface="Arial"/>
                <a:ea typeface="+mn-lt"/>
                <a:cs typeface="Arial"/>
              </a:rPr>
              <a:t>Result</a:t>
            </a:r>
          </a:p>
          <a:p>
            <a:r>
              <a:rPr lang="en-US" sz="2000" b="1" dirty="0">
                <a:latin typeface="Arial"/>
                <a:ea typeface="+mn-lt"/>
                <a:cs typeface="Arial"/>
              </a:rPr>
              <a:t>Conclusion</a:t>
            </a:r>
            <a:endParaRPr lang="en-US" dirty="0">
              <a:latin typeface="Arial"/>
              <a:cs typeface="Arial"/>
            </a:endParaRPr>
          </a:p>
          <a:p>
            <a:r>
              <a:rPr lang="en-US" sz="2000" b="1" dirty="0">
                <a:latin typeface="Arial"/>
                <a:ea typeface="+mn-lt"/>
                <a:cs typeface="Arial"/>
              </a:rPr>
              <a:t>Future Scope</a:t>
            </a:r>
          </a:p>
          <a:p>
            <a:r>
              <a:rPr lang="en-US" sz="2000" b="1" dirty="0">
                <a:latin typeface="Arial"/>
                <a:ea typeface="+mn-lt"/>
                <a:cs typeface="Arial"/>
              </a:rPr>
              <a:t>References</a:t>
            </a:r>
            <a:endParaRPr lang="en-US" dirty="0">
              <a:latin typeface="Arial"/>
              <a:cs typeface="Arial"/>
            </a:endParaRPr>
          </a:p>
          <a:p>
            <a:endParaRPr lang="en-US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9001537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FBA75B4-2DD5-42EB-9397-F36BFB8BA7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400" b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Problem Statement</a:t>
            </a:r>
            <a:endParaRPr lang="en-US" sz="4400" dirty="0"/>
          </a:p>
        </p:txBody>
      </p:sp>
      <p:pic>
        <p:nvPicPr>
          <p:cNvPr id="12" name="Content Placeholder 11">
            <a:extLst>
              <a:ext uri="{FF2B5EF4-FFF2-40B4-BE49-F238E27FC236}">
                <a16:creationId xmlns:a16="http://schemas.microsoft.com/office/drawing/2014/main" id="{D75A9C5B-46A0-FFD9-BB0C-623CA825C36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24348" y="1341959"/>
            <a:ext cx="9665572" cy="5439775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F2D2F55E-7A6D-76C1-414B-57E92DBA64C0}"/>
              </a:ext>
            </a:extLst>
          </p:cNvPr>
          <p:cNvSpPr txBox="1"/>
          <p:nvPr/>
        </p:nvSpPr>
        <p:spPr>
          <a:xfrm>
            <a:off x="281068" y="1252772"/>
            <a:ext cx="1184997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600" b="1" dirty="0">
                <a:highlight>
                  <a:srgbClr val="00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People share personal information online without realizing the risks, while existing tools lack context and solutions.</a:t>
            </a:r>
            <a:endParaRPr lang="en-IN" sz="1600" dirty="0">
              <a:highlight>
                <a:srgbClr val="00FFFF"/>
              </a:highligh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864211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88E80A5A-B70F-5F27-4236-049F57719E4E}"/>
              </a:ext>
            </a:extLst>
          </p:cNvPr>
          <p:cNvSpPr/>
          <p:nvPr/>
        </p:nvSpPr>
        <p:spPr>
          <a:xfrm>
            <a:off x="5293360" y="4003040"/>
            <a:ext cx="1259840" cy="223520"/>
          </a:xfrm>
          <a:prstGeom prst="roundRect">
            <a:avLst/>
          </a:prstGeom>
          <a:solidFill>
            <a:schemeClr val="bg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ECD07088-D98B-5F55-7CBF-61F6BBEF4601}"/>
              </a:ext>
            </a:extLst>
          </p:cNvPr>
          <p:cNvSpPr/>
          <p:nvPr/>
        </p:nvSpPr>
        <p:spPr>
          <a:xfrm>
            <a:off x="2184400" y="3027680"/>
            <a:ext cx="1960880" cy="233680"/>
          </a:xfrm>
          <a:prstGeom prst="roundRect">
            <a:avLst/>
          </a:prstGeom>
          <a:solidFill>
            <a:schemeClr val="bg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8FBA75B4-2DD5-42EB-9397-F36BFB8BA7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400" b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Proposed Solution</a:t>
            </a:r>
            <a:endParaRPr lang="en-US" sz="4400" dirty="0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041FD9D-DF07-9C37-1E61-1D920E0EF1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6720" y="769700"/>
            <a:ext cx="7310791" cy="6339965"/>
          </a:xfr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Dual-Engine Privacy Intelligence: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Combines regex pattern detection with Gemini LLM analysis to identify both explicit personal data and contextual privacy risks. </a:t>
            </a:r>
          </a:p>
          <a:p>
            <a:pPr lvl="0"/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Privacy-by-Design Architecture: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Operates entirely in temporary session state (</a:t>
            </a:r>
            <a:r>
              <a:rPr lang="en-IN" dirty="0">
                <a:latin typeface="Consolas" panose="020B0609020204030204" pitchFamily="49" charset="0"/>
                <a:cs typeface="Arial" panose="020B0604020202020204" pitchFamily="34" charset="0"/>
              </a:rPr>
              <a:t>st.session_state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) with zero database persistence, analyzing only user-provided content without indexing individuals. </a:t>
            </a:r>
          </a:p>
          <a:p>
            <a:pPr lvl="0"/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Safe Public Web Content Pipeline: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Validates URLs, blocks private IPs, and extracts readable text using a custom </a:t>
            </a:r>
            <a:r>
              <a:rPr lang="en-IN" dirty="0">
                <a:latin typeface="Consolas" panose="020B0609020204030204" pitchFamily="49" charset="0"/>
                <a:cs typeface="Arial" panose="020B0604020202020204" pitchFamily="34" charset="0"/>
              </a:rPr>
              <a:t>HTMLParser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, ensuring users review the content before analysis begins. </a:t>
            </a:r>
          </a:p>
          <a:p>
            <a:pPr lvl="0"/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Automated Remediation &amp; Safer Rewriting: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Provides targeted cleanup recommendations and generates privacy-conscious rewrites at three selectable levels (Minimal, Balanced, Maximum) to reduce exposure while preserving intent. </a:t>
            </a:r>
          </a:p>
          <a:p>
            <a:pPr marL="0" indent="0">
              <a:buNone/>
            </a:pPr>
            <a:endParaRPr lang="en-IN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74C7A4F-0A5A-004B-A2A1-6AA3E844B7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43924" y="849864"/>
            <a:ext cx="4338476" cy="56153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03584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7D0995B1-ACA5-0D6F-F53D-33EDB87076AE}"/>
              </a:ext>
            </a:extLst>
          </p:cNvPr>
          <p:cNvSpPr/>
          <p:nvPr/>
        </p:nvSpPr>
        <p:spPr>
          <a:xfrm>
            <a:off x="3554083" y="5814204"/>
            <a:ext cx="526211" cy="301924"/>
          </a:xfrm>
          <a:prstGeom prst="roundRect">
            <a:avLst/>
          </a:prstGeom>
          <a:solidFill>
            <a:schemeClr val="bg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AE0BB26C-C9CB-86A1-1EC4-2B0859C4718C}"/>
              </a:ext>
            </a:extLst>
          </p:cNvPr>
          <p:cNvSpPr/>
          <p:nvPr/>
        </p:nvSpPr>
        <p:spPr>
          <a:xfrm>
            <a:off x="5978106" y="5598544"/>
            <a:ext cx="1345720" cy="207034"/>
          </a:xfrm>
          <a:prstGeom prst="roundRect">
            <a:avLst/>
          </a:prstGeom>
          <a:solidFill>
            <a:schemeClr val="bg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1B83C71D-6EC2-A72C-6431-EA447758BF73}"/>
              </a:ext>
            </a:extLst>
          </p:cNvPr>
          <p:cNvSpPr/>
          <p:nvPr/>
        </p:nvSpPr>
        <p:spPr>
          <a:xfrm>
            <a:off x="9851366" y="5607170"/>
            <a:ext cx="310551" cy="207034"/>
          </a:xfrm>
          <a:prstGeom prst="roundRect">
            <a:avLst/>
          </a:prstGeom>
          <a:solidFill>
            <a:schemeClr val="bg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473EDEDD-3927-4565-3345-51C67C26D05B}"/>
              </a:ext>
            </a:extLst>
          </p:cNvPr>
          <p:cNvSpPr/>
          <p:nvPr/>
        </p:nvSpPr>
        <p:spPr>
          <a:xfrm>
            <a:off x="905774" y="5184476"/>
            <a:ext cx="1086928" cy="215661"/>
          </a:xfrm>
          <a:prstGeom prst="roundRect">
            <a:avLst/>
          </a:prstGeom>
          <a:solidFill>
            <a:schemeClr val="bg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35CE9ADC-4C7D-1F92-43A9-C437EA1B05C2}"/>
              </a:ext>
            </a:extLst>
          </p:cNvPr>
          <p:cNvSpPr/>
          <p:nvPr/>
        </p:nvSpPr>
        <p:spPr>
          <a:xfrm>
            <a:off x="9126747" y="4899805"/>
            <a:ext cx="724619" cy="207034"/>
          </a:xfrm>
          <a:prstGeom prst="roundRect">
            <a:avLst/>
          </a:prstGeom>
          <a:solidFill>
            <a:schemeClr val="bg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B9251585-C87B-D824-4FFA-7C89ED0B7C67}"/>
              </a:ext>
            </a:extLst>
          </p:cNvPr>
          <p:cNvSpPr/>
          <p:nvPr/>
        </p:nvSpPr>
        <p:spPr>
          <a:xfrm>
            <a:off x="7548113" y="4899805"/>
            <a:ext cx="1457864" cy="207034"/>
          </a:xfrm>
          <a:prstGeom prst="roundRect">
            <a:avLst/>
          </a:prstGeom>
          <a:solidFill>
            <a:schemeClr val="bg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0E936C6-24CC-83DB-EA50-93918FFE1F65}"/>
              </a:ext>
            </a:extLst>
          </p:cNvPr>
          <p:cNvSpPr/>
          <p:nvPr/>
        </p:nvSpPr>
        <p:spPr>
          <a:xfrm>
            <a:off x="5641675" y="4908431"/>
            <a:ext cx="1682151" cy="207034"/>
          </a:xfrm>
          <a:prstGeom prst="roundRect">
            <a:avLst/>
          </a:prstGeom>
          <a:solidFill>
            <a:schemeClr val="bg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9C2A1928-5FF0-C73C-7847-7C507F39D1FA}"/>
              </a:ext>
            </a:extLst>
          </p:cNvPr>
          <p:cNvSpPr/>
          <p:nvPr/>
        </p:nvSpPr>
        <p:spPr>
          <a:xfrm>
            <a:off x="3226279" y="4209691"/>
            <a:ext cx="2286000" cy="181154"/>
          </a:xfrm>
          <a:prstGeom prst="roundRect">
            <a:avLst/>
          </a:prstGeom>
          <a:solidFill>
            <a:schemeClr val="bg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CB582F2-030A-0CA9-10EF-C798CC0D23DE}"/>
              </a:ext>
            </a:extLst>
          </p:cNvPr>
          <p:cNvSpPr/>
          <p:nvPr/>
        </p:nvSpPr>
        <p:spPr>
          <a:xfrm>
            <a:off x="1966824" y="3510951"/>
            <a:ext cx="1086928" cy="146649"/>
          </a:xfrm>
          <a:prstGeom prst="roundRect">
            <a:avLst/>
          </a:prstGeom>
          <a:solidFill>
            <a:schemeClr val="bg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8FBA75B4-2DD5-42EB-9397-F36BFB8BA7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662572"/>
            <a:ext cx="11029616" cy="530296"/>
          </a:xfrm>
        </p:spPr>
        <p:txBody>
          <a:bodyPr>
            <a:normAutofit fontScale="90000"/>
          </a:bodyPr>
          <a:lstStyle/>
          <a:p>
            <a:r>
              <a:rPr lang="en-US" sz="4400" b="1">
                <a:solidFill>
                  <a:schemeClr val="accent1"/>
                </a:solidFill>
                <a:latin typeface="Arial"/>
                <a:ea typeface="+mj-lt"/>
                <a:cs typeface="Arial"/>
              </a:rPr>
              <a:t>System  Approach</a:t>
            </a:r>
            <a:endParaRPr lang="en-US" sz="4400">
              <a:solidFill>
                <a:schemeClr val="accent1"/>
              </a:solidFill>
              <a:latin typeface="Calibri Light"/>
              <a:cs typeface="Calibri Light"/>
            </a:endParaRP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4FFAF3C-BA60-9181-132C-C36C403AAE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0807" y="1603950"/>
            <a:ext cx="11029615" cy="4673324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System Requirements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>
              <a:buFont typeface="Wingdings" panose="05000000000000000000" pitchFamily="2" charset="2"/>
              <a:buChar char="q"/>
            </a:pPr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Language: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Python 3.x </a:t>
            </a:r>
          </a:p>
          <a:p>
            <a:pPr lvl="0">
              <a:buFont typeface="Wingdings" panose="05000000000000000000" pitchFamily="2" charset="2"/>
              <a:buChar char="q"/>
            </a:pPr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API Requirement: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Google Gemini API Key (stored in Streamlit secrets or environment variables) </a:t>
            </a:r>
          </a:p>
          <a:p>
            <a:pPr lvl="0">
              <a:buFont typeface="Wingdings" panose="05000000000000000000" pitchFamily="2" charset="2"/>
              <a:buChar char="q"/>
            </a:pPr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Hardware: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Standard CPU and RAM sufficient for web application hosting.</a:t>
            </a:r>
          </a:p>
          <a:p>
            <a:pPr marL="0" indent="0">
              <a:buNone/>
            </a:pPr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Libraries Required to Build the Model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>
              <a:buFont typeface="Wingdings" panose="05000000000000000000" pitchFamily="2" charset="2"/>
              <a:buChar char="q"/>
            </a:pPr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Streamlit (</a:t>
            </a:r>
            <a:r>
              <a:rPr lang="en-IN" dirty="0">
                <a:latin typeface="Consolas" panose="020B0609020204030204" pitchFamily="49" charset="0"/>
                <a:cs typeface="Arial" panose="020B0604020202020204" pitchFamily="34" charset="0"/>
              </a:rPr>
              <a:t>streamlit</a:t>
            </a:r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):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Used for the reactive web interface, UI styling, and managing temporary session state. </a:t>
            </a:r>
          </a:p>
          <a:p>
            <a:pPr lvl="0">
              <a:buFont typeface="Wingdings" panose="05000000000000000000" pitchFamily="2" charset="2"/>
              <a:buChar char="q"/>
            </a:pPr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Google Generative AI (</a:t>
            </a:r>
            <a:r>
              <a:rPr lang="en-IN" dirty="0">
                <a:latin typeface="Consolas" panose="020B0609020204030204" pitchFamily="49" charset="0"/>
                <a:cs typeface="Arial" panose="020B0604020202020204" pitchFamily="34" charset="0"/>
              </a:rPr>
              <a:t>google.generativeai</a:t>
            </a:r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):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Used for LLM-based privacy scoring, exposure categorization, and text rewriting. </a:t>
            </a:r>
          </a:p>
          <a:p>
            <a:pPr lvl="0">
              <a:buFont typeface="Wingdings" panose="05000000000000000000" pitchFamily="2" charset="2"/>
              <a:buChar char="q"/>
            </a:pPr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Python Standard Library (Web &amp; Networking):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dirty="0">
                <a:latin typeface="Consolas" panose="020B0609020204030204" pitchFamily="49" charset="0"/>
                <a:cs typeface="Arial" panose="020B0604020202020204" pitchFamily="34" charset="0"/>
              </a:rPr>
              <a:t>urllib.request, urllib.parse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IN" dirty="0">
                <a:latin typeface="Consolas" panose="020B0609020204030204" pitchFamily="49" charset="0"/>
                <a:cs typeface="Arial" panose="020B0604020202020204" pitchFamily="34" charset="0"/>
              </a:rPr>
              <a:t>socket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, and </a:t>
            </a:r>
            <a:r>
              <a:rPr lang="en-IN" dirty="0">
                <a:latin typeface="Consolas" panose="020B0609020204030204" pitchFamily="49" charset="0"/>
                <a:cs typeface="Arial" panose="020B0604020202020204" pitchFamily="34" charset="0"/>
              </a:rPr>
              <a:t>ipaddress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for secure public URL retrieval and IP validation. </a:t>
            </a:r>
          </a:p>
          <a:p>
            <a:pPr lvl="0">
              <a:buFont typeface="Wingdings" panose="05000000000000000000" pitchFamily="2" charset="2"/>
              <a:buChar char="q"/>
            </a:pPr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Python Standard Library (Parsing &amp; Processing):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dirty="0">
                <a:latin typeface="Consolas" panose="020B0609020204030204" pitchFamily="49" charset="0"/>
                <a:cs typeface="Arial" panose="020B0604020202020204" pitchFamily="34" charset="0"/>
              </a:rPr>
              <a:t>html.parser 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for extracting visible text, </a:t>
            </a:r>
            <a:r>
              <a:rPr lang="en-IN" dirty="0">
                <a:latin typeface="Consolas" panose="020B0609020204030204" pitchFamily="49" charset="0"/>
                <a:cs typeface="Arial" panose="020B0604020202020204" pitchFamily="34" charset="0"/>
              </a:rPr>
              <a:t>re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(Regex) for local pattern detection, and </a:t>
            </a:r>
            <a:r>
              <a:rPr lang="en-IN" dirty="0">
                <a:latin typeface="Consolas" panose="020B0609020204030204" pitchFamily="49" charset="0"/>
                <a:cs typeface="Arial" panose="020B0604020202020204" pitchFamily="34" charset="0"/>
              </a:rPr>
              <a:t>json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for parsing LLM outputs. </a:t>
            </a:r>
          </a:p>
          <a:p>
            <a:pPr marL="0" indent="0">
              <a:buNone/>
            </a:pPr>
            <a:endParaRPr lang="en-IN" b="1" dirty="0">
              <a:solidFill>
                <a:srgbClr val="0F0F0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020245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CBFAC1D0-132E-C838-76B0-FA26E290A7B3}"/>
              </a:ext>
            </a:extLst>
          </p:cNvPr>
          <p:cNvSpPr/>
          <p:nvPr/>
        </p:nvSpPr>
        <p:spPr>
          <a:xfrm>
            <a:off x="2027208" y="4382219"/>
            <a:ext cx="1587261" cy="194094"/>
          </a:xfrm>
          <a:prstGeom prst="roundRect">
            <a:avLst/>
          </a:prstGeom>
          <a:solidFill>
            <a:schemeClr val="bg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2A0A0DBE-6242-3C9C-EB87-C12DEFE7A9C3}"/>
              </a:ext>
            </a:extLst>
          </p:cNvPr>
          <p:cNvSpPr/>
          <p:nvPr/>
        </p:nvSpPr>
        <p:spPr>
          <a:xfrm>
            <a:off x="4735902" y="3385870"/>
            <a:ext cx="776377" cy="185468"/>
          </a:xfrm>
          <a:prstGeom prst="roundRect">
            <a:avLst/>
          </a:prstGeom>
          <a:solidFill>
            <a:schemeClr val="bg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A76EAEEE-5C5B-C726-00F0-7CE2B317DF88}"/>
              </a:ext>
            </a:extLst>
          </p:cNvPr>
          <p:cNvSpPr/>
          <p:nvPr/>
        </p:nvSpPr>
        <p:spPr>
          <a:xfrm>
            <a:off x="3726611" y="3385870"/>
            <a:ext cx="845389" cy="194094"/>
          </a:xfrm>
          <a:prstGeom prst="roundRect">
            <a:avLst/>
          </a:prstGeom>
          <a:solidFill>
            <a:schemeClr val="bg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3E1E0E26-AF76-7E34-7313-25607A17679D}"/>
              </a:ext>
            </a:extLst>
          </p:cNvPr>
          <p:cNvSpPr/>
          <p:nvPr/>
        </p:nvSpPr>
        <p:spPr>
          <a:xfrm>
            <a:off x="888521" y="3377244"/>
            <a:ext cx="2122098" cy="194094"/>
          </a:xfrm>
          <a:prstGeom prst="roundRect">
            <a:avLst/>
          </a:prstGeom>
          <a:solidFill>
            <a:schemeClr val="bg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8FBA75B4-2DD5-42EB-9397-F36BFB8BA7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400" b="1" dirty="0">
                <a:solidFill>
                  <a:schemeClr val="accent1"/>
                </a:solidFill>
                <a:latin typeface="Arial"/>
                <a:ea typeface="+mj-lt"/>
                <a:cs typeface="Arial"/>
              </a:rPr>
              <a:t>Algorithm &amp; Deployment</a:t>
            </a:r>
            <a:endParaRPr lang="en-US" dirty="0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7F0871F-2198-9E37-C96F-3611AA199B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2181" y="1793732"/>
            <a:ext cx="11029615" cy="4673324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1500" b="1" dirty="0">
                <a:latin typeface="Arial" panose="020B0604020202020204" pitchFamily="34" charset="0"/>
                <a:cs typeface="Arial" panose="020B0604020202020204" pitchFamily="34" charset="0"/>
              </a:rPr>
              <a:t>Algorithm Selection</a:t>
            </a:r>
            <a:endParaRPr lang="en-IN" sz="15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>
              <a:buFont typeface="Wingdings" panose="05000000000000000000" pitchFamily="2" charset="2"/>
              <a:buChar char="q"/>
            </a:pPr>
            <a:r>
              <a:rPr lang="en-IN" sz="1500" b="1" dirty="0">
                <a:latin typeface="Arial" panose="020B0604020202020204" pitchFamily="34" charset="0"/>
                <a:cs typeface="Arial" panose="020B0604020202020204" pitchFamily="34" charset="0"/>
              </a:rPr>
              <a:t>Hybrid Inspection Method:</a:t>
            </a:r>
            <a:r>
              <a:rPr lang="en-IN" sz="1500" dirty="0">
                <a:latin typeface="Arial" panose="020B0604020202020204" pitchFamily="34" charset="0"/>
                <a:cs typeface="Arial" panose="020B0604020202020204" pitchFamily="34" charset="0"/>
              </a:rPr>
              <a:t> Utilizes deterministic Regular Expressions to guarantee the detection of explicit items (emails, phones, addresses) alongside a Generative AI prompt framework constrained to return structured JSON for contextual risk assessment. </a:t>
            </a:r>
          </a:p>
          <a:p>
            <a:pPr marL="0" indent="0">
              <a:buNone/>
            </a:pPr>
            <a:r>
              <a:rPr lang="en-IN" sz="1500" b="1" dirty="0">
                <a:latin typeface="Arial" panose="020B0604020202020204" pitchFamily="34" charset="0"/>
                <a:cs typeface="Arial" panose="020B0604020202020204" pitchFamily="34" charset="0"/>
              </a:rPr>
              <a:t>Data Input</a:t>
            </a:r>
            <a:endParaRPr lang="en-IN" sz="15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>
              <a:buFont typeface="Wingdings" panose="05000000000000000000" pitchFamily="2" charset="2"/>
              <a:buChar char="q"/>
            </a:pPr>
            <a:r>
              <a:rPr lang="en-IN" sz="1500" dirty="0">
                <a:latin typeface="Arial" panose="020B0604020202020204" pitchFamily="34" charset="0"/>
                <a:cs typeface="Arial" panose="020B0604020202020204" pitchFamily="34" charset="0"/>
              </a:rPr>
              <a:t>Accepts manual text input (e.g., drafts, messages) or public webpage URLs. HTML input is processed by a custom </a:t>
            </a:r>
            <a:r>
              <a:rPr lang="en-IN" sz="1500" dirty="0">
                <a:latin typeface="Consolas" panose="020B0609020204030204" pitchFamily="49" charset="0"/>
                <a:cs typeface="Arial" panose="020B0604020202020204" pitchFamily="34" charset="0"/>
              </a:rPr>
              <a:t>VisibleTextExtractor </a:t>
            </a:r>
            <a:r>
              <a:rPr lang="en-IN" sz="1500" dirty="0">
                <a:latin typeface="Arial" panose="020B0604020202020204" pitchFamily="34" charset="0"/>
                <a:cs typeface="Arial" panose="020B0604020202020204" pitchFamily="34" charset="0"/>
              </a:rPr>
              <a:t>to strip </a:t>
            </a:r>
            <a:r>
              <a:rPr lang="en-IN" sz="1500" dirty="0">
                <a:latin typeface="Consolas" panose="020B0609020204030204" pitchFamily="49" charset="0"/>
                <a:cs typeface="Arial" panose="020B0604020202020204" pitchFamily="34" charset="0"/>
              </a:rPr>
              <a:t>&lt;script&gt;, &lt;style&gt;, </a:t>
            </a:r>
            <a:r>
              <a:rPr lang="en-IN" sz="1500" dirty="0">
                <a:latin typeface="Arial" panose="020B0604020202020204" pitchFamily="34" charset="0"/>
                <a:cs typeface="Arial" panose="020B0604020202020204" pitchFamily="34" charset="0"/>
              </a:rPr>
              <a:t>and navigation boilerplate before analysis. </a:t>
            </a:r>
          </a:p>
          <a:p>
            <a:pPr marL="0" indent="0">
              <a:buNone/>
            </a:pPr>
            <a:r>
              <a:rPr lang="en-IN" sz="1500" b="1" dirty="0">
                <a:latin typeface="Arial" panose="020B0604020202020204" pitchFamily="34" charset="0"/>
                <a:cs typeface="Arial" panose="020B0604020202020204" pitchFamily="34" charset="0"/>
              </a:rPr>
              <a:t>Analysis Process</a:t>
            </a:r>
            <a:endParaRPr lang="en-IN" sz="15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>
              <a:buFont typeface="Wingdings" panose="05000000000000000000" pitchFamily="2" charset="2"/>
              <a:buChar char="q"/>
            </a:pPr>
            <a:r>
              <a:rPr lang="en-IN" sz="1500" dirty="0">
                <a:latin typeface="Arial" panose="020B0604020202020204" pitchFamily="34" charset="0"/>
                <a:cs typeface="Arial" panose="020B0604020202020204" pitchFamily="34" charset="0"/>
              </a:rPr>
              <a:t>The system executes local regex pattern matching first. If enabled, it then passes the sanitized text to the Gemini model using a strict </a:t>
            </a:r>
            <a:r>
              <a:rPr lang="en-IN" sz="1500" dirty="0">
                <a:latin typeface="Consolas" panose="020B0609020204030204" pitchFamily="49" charset="0"/>
                <a:cs typeface="Arial" panose="020B0604020202020204" pitchFamily="34" charset="0"/>
              </a:rPr>
              <a:t>ANALYSIS_PROMPT </a:t>
            </a:r>
            <a:r>
              <a:rPr lang="en-IN" sz="1500" dirty="0">
                <a:latin typeface="Arial" panose="020B0604020202020204" pitchFamily="34" charset="0"/>
                <a:cs typeface="Arial" panose="020B0604020202020204" pitchFamily="34" charset="0"/>
              </a:rPr>
              <a:t>to extract exposure categories, severity (Low, Medium, High), and practical recommendations. </a:t>
            </a:r>
          </a:p>
          <a:p>
            <a:pPr lvl="0">
              <a:buFont typeface="Wingdings" panose="05000000000000000000" pitchFamily="2" charset="2"/>
              <a:buChar char="q"/>
            </a:pPr>
            <a:r>
              <a:rPr lang="en-IN" sz="1500" dirty="0">
                <a:latin typeface="Arial" panose="020B0604020202020204" pitchFamily="34" charset="0"/>
                <a:cs typeface="Arial" panose="020B0604020202020204" pitchFamily="34" charset="0"/>
              </a:rPr>
              <a:t>Risk scores are generated from detected privacy signals and contextual severity information, with the final score represented on a 0–100 scale.</a:t>
            </a:r>
          </a:p>
          <a:p>
            <a:pPr marL="0" indent="0">
              <a:buNone/>
            </a:pPr>
            <a:r>
              <a:rPr lang="en-IN" sz="1500" b="1" dirty="0">
                <a:latin typeface="Arial" panose="020B0604020202020204" pitchFamily="34" charset="0"/>
                <a:cs typeface="Arial" panose="020B0604020202020204" pitchFamily="34" charset="0"/>
              </a:rPr>
              <a:t>Deployment</a:t>
            </a:r>
            <a:endParaRPr lang="en-IN" sz="15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>
              <a:buFont typeface="Wingdings" panose="05000000000000000000" pitchFamily="2" charset="2"/>
              <a:buChar char="q"/>
            </a:pPr>
            <a:r>
              <a:rPr lang="en-IN" sz="1500" dirty="0">
                <a:latin typeface="Arial" panose="020B0604020202020204" pitchFamily="34" charset="0"/>
                <a:cs typeface="Arial" panose="020B0604020202020204" pitchFamily="34" charset="0"/>
              </a:rPr>
              <a:t>Deployed as a Streamlit web application capable of running locally or on cloud platforms, with session-based state management and secure API key configuration.</a:t>
            </a:r>
          </a:p>
          <a:p>
            <a:pPr>
              <a:buFont typeface="Wingdings" panose="05000000000000000000" pitchFamily="2" charset="2"/>
              <a:buChar char="q"/>
            </a:pPr>
            <a:endParaRPr lang="en-IN" sz="15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545087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FBA75B4-2DD5-42EB-9397-F36BFB8BA7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000" b="1" dirty="0">
                <a:solidFill>
                  <a:schemeClr val="accent1"/>
                </a:solidFill>
                <a:latin typeface="Arial" panose="020B0604020202020204" pitchFamily="34" charset="0"/>
                <a:ea typeface="+mj-lt"/>
                <a:cs typeface="Arial" panose="020B0604020202020204" pitchFamily="34" charset="0"/>
              </a:rPr>
              <a:t>Result:</a:t>
            </a:r>
            <a:r>
              <a:rPr lang="en-IN" sz="40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PRIVACYLENS AI ANALYSIS</a:t>
            </a:r>
            <a:endParaRPr lang="en-US" sz="4000" b="1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3304455-6802-6CA9-8475-2F6DD1B8D4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5992" y="6038728"/>
            <a:ext cx="8993456" cy="677509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1800" b="1" dirty="0">
                <a:highlight>
                  <a:srgbClr val="00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Overview of the PrivacyLens AI platform and its main privacy analysis features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0E4C9F0-21E8-384F-AE4E-EDEDB4140A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8474" y="1423993"/>
            <a:ext cx="9906494" cy="4614735"/>
          </a:xfrm>
          <a:prstGeom prst="rect">
            <a:avLst/>
          </a:prstGeom>
          <a:effectLst>
            <a:outerShdw blurRad="101600" dist="38100" dir="1440000" algn="ctr" rotWithShape="0">
              <a:srgbClr val="000000">
                <a:alpha val="74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4832933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1454B5-A104-4E91-C54D-3B482DB3A0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6A4FECE1-4344-044E-69C6-F349CC11A2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000" b="1" dirty="0">
                <a:solidFill>
                  <a:schemeClr val="accent1"/>
                </a:solidFill>
                <a:latin typeface="Arial" panose="020B0604020202020204" pitchFamily="34" charset="0"/>
                <a:ea typeface="+mj-lt"/>
                <a:cs typeface="Arial" panose="020B0604020202020204" pitchFamily="34" charset="0"/>
              </a:rPr>
              <a:t>Result:</a:t>
            </a:r>
            <a:r>
              <a:rPr lang="en-IN" sz="40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40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TEXT PRIVACY ANALYSIS</a:t>
            </a:r>
            <a:endParaRPr lang="en-US" sz="4000" b="1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F6A007A-A561-AA4B-9B91-3A85A380D5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6419" y="1521713"/>
            <a:ext cx="5459581" cy="2745487"/>
          </a:xfrm>
          <a:prstGeom prst="rect">
            <a:avLst/>
          </a:prstGeom>
          <a:effectLst>
            <a:outerShdw blurRad="101600" dist="38100" dir="1440000" algn="ctr" rotWithShape="0">
              <a:srgbClr val="000000">
                <a:alpha val="74000"/>
              </a:srgbClr>
            </a:outerShdw>
          </a:effec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272C673-2AF0-CD5A-94B1-3334E0682C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2349" y="2901769"/>
            <a:ext cx="5648960" cy="2873102"/>
          </a:xfrm>
          <a:prstGeom prst="rect">
            <a:avLst/>
          </a:prstGeom>
          <a:effectLst>
            <a:outerShdw blurRad="101600" dist="38100" dir="1440000" algn="ctr" rotWithShape="0">
              <a:srgbClr val="000000">
                <a:alpha val="74000"/>
              </a:srgbClr>
            </a:outerShdw>
          </a:effec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7A6DFB2E-9FFA-1D78-535D-4253DC033D7C}"/>
              </a:ext>
            </a:extLst>
          </p:cNvPr>
          <p:cNvSpPr txBox="1"/>
          <p:nvPr/>
        </p:nvSpPr>
        <p:spPr>
          <a:xfrm>
            <a:off x="707541" y="6003444"/>
            <a:ext cx="110296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highlight>
                  <a:srgbClr val="00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Users can analyze their content before sharing it publicly and identify potential privacy exposures.</a:t>
            </a:r>
          </a:p>
        </p:txBody>
      </p:sp>
    </p:spTree>
    <p:extLst>
      <p:ext uri="{BB962C8B-B14F-4D97-AF65-F5344CB8AC3E}">
        <p14:creationId xmlns:p14="http://schemas.microsoft.com/office/powerpoint/2010/main" val="7275198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4175AF-AFFA-4D26-CFE1-5FA37A46AC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9D41B14E-9771-4242-5E68-7030EC2249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000" b="1" dirty="0">
                <a:solidFill>
                  <a:schemeClr val="accent1"/>
                </a:solidFill>
                <a:latin typeface="Arial" panose="020B0604020202020204" pitchFamily="34" charset="0"/>
                <a:ea typeface="+mj-lt"/>
                <a:cs typeface="Arial" panose="020B0604020202020204" pitchFamily="34" charset="0"/>
              </a:rPr>
              <a:t>Result: </a:t>
            </a:r>
            <a:r>
              <a:rPr lang="en-IN" sz="40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PUBLIC FOOTPRINT ANALYSIS</a:t>
            </a:r>
            <a:endParaRPr lang="en-US" sz="4000" b="1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B1BEE4D-2175-974B-C000-43BF12A12E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4439" y="1348864"/>
            <a:ext cx="4854201" cy="2448647"/>
          </a:xfrm>
          <a:prstGeom prst="rect">
            <a:avLst/>
          </a:prstGeom>
          <a:effectLst>
            <a:outerShdw blurRad="101600" dist="38100" dir="1440000" algn="ctr" rotWithShape="0">
              <a:srgbClr val="000000">
                <a:alpha val="74000"/>
              </a:srgbClr>
            </a:outerShdw>
          </a:effec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A031D2C-F5EF-11AA-09EE-B4D8BA025F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7115" y="1308225"/>
            <a:ext cx="4935686" cy="2494934"/>
          </a:xfrm>
          <a:prstGeom prst="rect">
            <a:avLst/>
          </a:prstGeom>
          <a:effectLst>
            <a:outerShdw blurRad="101600" dist="38100" dir="1440000" algn="ctr" rotWithShape="0">
              <a:srgbClr val="000000">
                <a:alpha val="74000"/>
              </a:srgbClr>
            </a:outerShdw>
          </a:effec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E7E7C84-39BD-23B1-E0D2-26E2404CBDB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45647" y="3892505"/>
            <a:ext cx="5049520" cy="2553810"/>
          </a:xfrm>
          <a:prstGeom prst="rect">
            <a:avLst/>
          </a:prstGeom>
          <a:effectLst>
            <a:outerShdw blurRad="101600" dist="38100" dir="1440000" algn="ctr" rotWithShape="0">
              <a:srgbClr val="000000">
                <a:alpha val="74000"/>
              </a:srgbClr>
            </a:outerShdw>
          </a:effec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E06EB971-1265-B263-CB8E-C676270227B8}"/>
              </a:ext>
            </a:extLst>
          </p:cNvPr>
          <p:cNvSpPr txBox="1"/>
          <p:nvPr/>
        </p:nvSpPr>
        <p:spPr>
          <a:xfrm>
            <a:off x="386080" y="6412263"/>
            <a:ext cx="103204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highlight>
                  <a:srgbClr val="00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PrivacyLens AI reviews accessible public content and analyzes it for potential privacy risks.</a:t>
            </a:r>
          </a:p>
        </p:txBody>
      </p:sp>
    </p:spTree>
    <p:extLst>
      <p:ext uri="{BB962C8B-B14F-4D97-AF65-F5344CB8AC3E}">
        <p14:creationId xmlns:p14="http://schemas.microsoft.com/office/powerpoint/2010/main" val="38231644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DC80A7-45F4-3B23-FA90-E08B34F65E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2A95A2E4-C35B-1477-383D-A3791C5C57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000" b="1" dirty="0">
                <a:solidFill>
                  <a:schemeClr val="accent1"/>
                </a:solidFill>
                <a:latin typeface="Arial" panose="020B0604020202020204" pitchFamily="34" charset="0"/>
                <a:ea typeface="+mj-lt"/>
                <a:cs typeface="Arial" panose="020B0604020202020204" pitchFamily="34" charset="0"/>
              </a:rPr>
              <a:t>Result: </a:t>
            </a:r>
            <a:r>
              <a:rPr lang="en-IN" sz="40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PRIVACY SNAPSHOT</a:t>
            </a:r>
            <a:endParaRPr lang="en-US" sz="4000" b="1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F7411D0-18D3-1802-5ACC-A4332EBC61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28" y="1303572"/>
            <a:ext cx="9328952" cy="4708297"/>
          </a:xfrm>
          <a:prstGeom prst="rect">
            <a:avLst/>
          </a:prstGeom>
          <a:effectLst>
            <a:outerShdw blurRad="101600" dist="38100" dir="1440000" algn="ctr" rotWithShape="0">
              <a:srgbClr val="000000">
                <a:alpha val="74000"/>
              </a:srgbClr>
            </a:outerShdw>
          </a:effec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D7EAE97-8484-A0FA-A02C-32AAF0F4BE44}"/>
              </a:ext>
            </a:extLst>
          </p:cNvPr>
          <p:cNvSpPr txBox="1"/>
          <p:nvPr/>
        </p:nvSpPr>
        <p:spPr>
          <a:xfrm>
            <a:off x="518160" y="6085840"/>
            <a:ext cx="107573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highlight>
                  <a:srgbClr val="00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Provides a session-based overview and comparison of privacy risks across </a:t>
            </a:r>
            <a:r>
              <a:rPr lang="en-IN" b="1" dirty="0" err="1">
                <a:highlight>
                  <a:srgbClr val="00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analyzed</a:t>
            </a:r>
            <a:r>
              <a:rPr lang="en-IN" b="1" dirty="0">
                <a:highlight>
                  <a:srgbClr val="00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 sources.</a:t>
            </a:r>
          </a:p>
        </p:txBody>
      </p:sp>
    </p:spTree>
    <p:extLst>
      <p:ext uri="{BB962C8B-B14F-4D97-AF65-F5344CB8AC3E}">
        <p14:creationId xmlns:p14="http://schemas.microsoft.com/office/powerpoint/2010/main" val="34757612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875753-41F0-D231-69E6-4CF635DFF0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3A0C40E7-F018-A1C0-8B23-78CF4BD54F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000" b="1" dirty="0">
                <a:solidFill>
                  <a:schemeClr val="accent1"/>
                </a:solidFill>
                <a:latin typeface="Arial" panose="020B0604020202020204" pitchFamily="34" charset="0"/>
                <a:ea typeface="+mj-lt"/>
                <a:cs typeface="Arial" panose="020B0604020202020204" pitchFamily="34" charset="0"/>
              </a:rPr>
              <a:t>Result:</a:t>
            </a:r>
            <a:r>
              <a:rPr lang="en-IN" sz="40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PRIVACY CLEANUP PLAN</a:t>
            </a:r>
            <a:endParaRPr lang="en-US" sz="4000" b="1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F984A19-87E8-D759-2705-137787035B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72" y="1232452"/>
            <a:ext cx="9540478" cy="4802588"/>
          </a:xfrm>
          <a:prstGeom prst="rect">
            <a:avLst/>
          </a:prstGeom>
          <a:effectLst>
            <a:outerShdw blurRad="101600" dist="38100" dir="1440000" algn="ctr" rotWithShape="0">
              <a:srgbClr val="000000">
                <a:alpha val="74000"/>
              </a:srgbClr>
            </a:outerShdw>
          </a:effec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B165C459-AE8B-28B5-D0BF-81EFA1B4AE7F}"/>
              </a:ext>
            </a:extLst>
          </p:cNvPr>
          <p:cNvSpPr txBox="1"/>
          <p:nvPr/>
        </p:nvSpPr>
        <p:spPr>
          <a:xfrm>
            <a:off x="609600" y="6065520"/>
            <a:ext cx="104851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highlight>
                  <a:srgbClr val="00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Provides practical actions and recommendations based on the identified privacy exposures.</a:t>
            </a:r>
          </a:p>
        </p:txBody>
      </p:sp>
    </p:spTree>
    <p:extLst>
      <p:ext uri="{BB962C8B-B14F-4D97-AF65-F5344CB8AC3E}">
        <p14:creationId xmlns:p14="http://schemas.microsoft.com/office/powerpoint/2010/main" val="10075479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03EEB4-A3CB-DB6F-0E59-7E074D6303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000" b="1" dirty="0">
                <a:solidFill>
                  <a:schemeClr val="accent1"/>
                </a:solidFill>
                <a:latin typeface="Arial" panose="020B0604020202020204" pitchFamily="34" charset="0"/>
                <a:ea typeface="+mj-lt"/>
                <a:cs typeface="Arial" panose="020B0604020202020204" pitchFamily="34" charset="0"/>
              </a:rPr>
              <a:t>Result: </a:t>
            </a:r>
            <a:r>
              <a:rPr lang="en-IN" sz="40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SETTINGS &amp; SYSTEM WORKFLOW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C327623-E15B-E5D5-D328-DE445D9075A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79592" y="1362710"/>
            <a:ext cx="5582471" cy="2802890"/>
          </a:xfrm>
          <a:prstGeom prst="rect">
            <a:avLst/>
          </a:prstGeom>
          <a:effectLst>
            <a:outerShdw blurRad="101600" dist="38100" dir="1440000" algn="ctr" rotWithShape="0">
              <a:srgbClr val="000000">
                <a:alpha val="74000"/>
              </a:srgbClr>
            </a:outerShdw>
          </a:effec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D9A262B-30B2-56E6-D4D7-6E95AC6D54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10547" y="2807260"/>
            <a:ext cx="5699760" cy="2872180"/>
          </a:xfrm>
          <a:prstGeom prst="rect">
            <a:avLst/>
          </a:prstGeom>
          <a:effectLst>
            <a:outerShdw blurRad="101600" dist="38100" dir="1440000" algn="ctr" rotWithShape="0">
              <a:srgbClr val="000000">
                <a:alpha val="74000"/>
              </a:srgbClr>
            </a:outerShdw>
          </a:effec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CBF528E-BB69-550A-1626-87E5B0E7A749}"/>
              </a:ext>
            </a:extLst>
          </p:cNvPr>
          <p:cNvSpPr txBox="1"/>
          <p:nvPr/>
        </p:nvSpPr>
        <p:spPr>
          <a:xfrm>
            <a:off x="467360" y="5862320"/>
            <a:ext cx="101498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highlight>
                  <a:srgbClr val="00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Allows workspace customization and explains the transparent privacy analysis workflow.</a:t>
            </a:r>
          </a:p>
        </p:txBody>
      </p:sp>
    </p:spTree>
    <p:extLst>
      <p:ext uri="{BB962C8B-B14F-4D97-AF65-F5344CB8AC3E}">
        <p14:creationId xmlns:p14="http://schemas.microsoft.com/office/powerpoint/2010/main" val="355726691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FBA75B4-2DD5-42EB-9397-F36BFB8BA7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400" b="1">
                <a:solidFill>
                  <a:schemeClr val="accent1"/>
                </a:solidFill>
                <a:latin typeface="Arial"/>
                <a:ea typeface="+mj-lt"/>
                <a:cs typeface="Arial"/>
              </a:rPr>
              <a:t>Conclusion</a:t>
            </a:r>
            <a:endParaRPr lang="en-US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05E46AB-32C4-4B57-A2B1-50738A64BE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1482520"/>
            <a:ext cx="11029615" cy="4673324"/>
          </a:xfrm>
        </p:spPr>
        <p:txBody>
          <a:bodyPr>
            <a:normAutofit/>
          </a:bodyPr>
          <a:lstStyle/>
          <a:p>
            <a:pPr lvl="0">
              <a:buFont typeface="Wingdings" panose="05000000000000000000" pitchFamily="2" charset="2"/>
              <a:buChar char="q"/>
            </a:pP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PrivacyLens AI successfully demonstrates that digital privacy tools can provide deep, contextual insights without sacrificing user data.</a:t>
            </a:r>
          </a:p>
          <a:p>
            <a:pPr lvl="0">
              <a:buFont typeface="Wingdings" panose="05000000000000000000" pitchFamily="2" charset="2"/>
              <a:buChar char="q"/>
            </a:pP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By combining standard local regex processing with constrained generative AI, the application helps identify explicit privacy signals and context-dependent exposure risks in user-provided text.</a:t>
            </a:r>
          </a:p>
          <a:p>
            <a:pPr lvl="0">
              <a:buFont typeface="Wingdings" panose="05000000000000000000" pitchFamily="2" charset="2"/>
              <a:buChar char="q"/>
            </a:pP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The custom HTML parsing and IP validation mechanisms prove highly effective at extracting public web content safely while helping prevent analysis of local, private, and internal network destinations.</a:t>
            </a:r>
          </a:p>
          <a:p>
            <a:pPr lvl="0">
              <a:buFont typeface="Wingdings" panose="05000000000000000000" pitchFamily="2" charset="2"/>
              <a:buChar char="q"/>
            </a:pP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The automated rewriting and dynamic remediation features successfully transition the tool from passive detection to active, practical privacy protection.</a:t>
            </a:r>
          </a:p>
          <a:p>
            <a:pPr>
              <a:buFont typeface="Wingdings" panose="05000000000000000000" pitchFamily="2" charset="2"/>
              <a:buChar char="q"/>
            </a:pPr>
            <a:endParaRPr lang="en-IN" sz="2000" dirty="0">
              <a:solidFill>
                <a:srgbClr val="0F0F0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8331512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638FD1-D00E-E75B-705C-564F06D93D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>
              <a:buFont typeface="Wingdings" panose="05000000000000000000" pitchFamily="2" charset="2"/>
              <a:buChar char="q"/>
            </a:pPr>
            <a:r>
              <a:rPr lang="en-IN" sz="2000" b="1" dirty="0">
                <a:latin typeface="Arial" panose="020B0604020202020204" pitchFamily="34" charset="0"/>
                <a:cs typeface="Arial" panose="020B0604020202020204" pitchFamily="34" charset="0"/>
              </a:rPr>
              <a:t>Document Support:</a:t>
            </a: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 Expanding input capabilities to securely parse local PDF or DOCX files for offline regex analysis.</a:t>
            </a:r>
          </a:p>
          <a:p>
            <a:pPr lvl="0">
              <a:buFont typeface="Wingdings" panose="05000000000000000000" pitchFamily="2" charset="2"/>
              <a:buChar char="q"/>
            </a:pPr>
            <a:r>
              <a:rPr lang="en-IN" sz="2000" b="1" dirty="0">
                <a:latin typeface="Arial" panose="020B0604020202020204" pitchFamily="34" charset="0"/>
                <a:cs typeface="Arial" panose="020B0604020202020204" pitchFamily="34" charset="0"/>
              </a:rPr>
              <a:t>Expanded Pattern Recognition:</a:t>
            </a: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 Enhancing the local detection engine to flag regional financial identifiers, license plates, and standardized identification numbers.</a:t>
            </a:r>
          </a:p>
          <a:p>
            <a:pPr lvl="0">
              <a:buFont typeface="Wingdings" panose="05000000000000000000" pitchFamily="2" charset="2"/>
              <a:buChar char="q"/>
            </a:pPr>
            <a:r>
              <a:rPr lang="en-IN" sz="2000" b="1" dirty="0">
                <a:latin typeface="Arial" panose="020B0604020202020204" pitchFamily="34" charset="0"/>
                <a:cs typeface="Arial" panose="020B0604020202020204" pitchFamily="34" charset="0"/>
              </a:rPr>
              <a:t>Open-Source Local LLMs:</a:t>
            </a: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 Integrating lightweight, locally hosted language models (e.g., Llama 3 or Mistral via Ollama) to remove the reliance on the external Google Gemini API for offline users.</a:t>
            </a:r>
          </a:p>
          <a:p>
            <a:pPr lvl="0">
              <a:buFont typeface="Wingdings" panose="05000000000000000000" pitchFamily="2" charset="2"/>
              <a:buChar char="q"/>
            </a:pPr>
            <a:r>
              <a:rPr lang="en-IN" sz="2000" b="1" dirty="0">
                <a:latin typeface="Arial" panose="020B0604020202020204" pitchFamily="34" charset="0"/>
                <a:cs typeface="Arial" panose="020B0604020202020204" pitchFamily="34" charset="0"/>
              </a:rPr>
              <a:t>Browser Extension:</a:t>
            </a: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 Adapting the core analysis logic into a web extension to warn users before they submit sensitive text on social media or public forums.</a:t>
            </a:r>
          </a:p>
          <a:p>
            <a:pPr marL="0" indent="0">
              <a:buNone/>
            </a:pP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3F968F13-9AC4-7120-7ACD-9F752C767D5D}"/>
              </a:ext>
            </a:extLst>
          </p:cNvPr>
          <p:cNvSpPr txBox="1">
            <a:spLocks/>
          </p:cNvSpPr>
          <p:nvPr/>
        </p:nvSpPr>
        <p:spPr>
          <a:xfrm>
            <a:off x="535670" y="844659"/>
            <a:ext cx="11029616" cy="530296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75000" lnSpcReduction="20000"/>
          </a:bodyPr>
          <a:lstStyle>
            <a:lvl1pPr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800" b="0" kern="1200" cap="all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4400" b="1">
                <a:solidFill>
                  <a:schemeClr val="accent1"/>
                </a:solidFill>
                <a:latin typeface="Arial"/>
                <a:cs typeface="Arial"/>
              </a:rPr>
              <a:t>Future scope</a:t>
            </a:r>
          </a:p>
        </p:txBody>
      </p:sp>
    </p:spTree>
    <p:extLst>
      <p:ext uri="{BB962C8B-B14F-4D97-AF65-F5344CB8AC3E}">
        <p14:creationId xmlns:p14="http://schemas.microsoft.com/office/powerpoint/2010/main" val="61488268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C3C67A8E-7313-2996-C86E-6036F2F44049}"/>
              </a:ext>
            </a:extLst>
          </p:cNvPr>
          <p:cNvSpPr/>
          <p:nvPr/>
        </p:nvSpPr>
        <p:spPr>
          <a:xfrm>
            <a:off x="4408098" y="3140017"/>
            <a:ext cx="2286000" cy="245853"/>
          </a:xfrm>
          <a:prstGeom prst="roundRect">
            <a:avLst/>
          </a:prstGeom>
          <a:solidFill>
            <a:schemeClr val="bg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8FBA75B4-2DD5-42EB-9397-F36BFB8BA7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400" b="1">
                <a:solidFill>
                  <a:schemeClr val="accent1"/>
                </a:solidFill>
                <a:latin typeface="Arial"/>
                <a:ea typeface="+mj-lt"/>
                <a:cs typeface="Arial"/>
              </a:rPr>
              <a:t>References</a:t>
            </a:r>
            <a:endParaRPr lang="en-US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57C38BC-22B3-37B2-E0C3-812020A760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>
              <a:buFont typeface="Wingdings" panose="05000000000000000000" pitchFamily="2" charset="2"/>
              <a:buChar char="q"/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Streamlit Documentation</a:t>
            </a:r>
          </a:p>
          <a:p>
            <a:pPr lvl="0">
              <a:buFont typeface="Wingdings" panose="05000000000000000000" pitchFamily="2" charset="2"/>
              <a:buChar char="q"/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Google Generative AI Python SDK (</a:t>
            </a:r>
            <a:r>
              <a:rPr lang="en-IN" dirty="0">
                <a:latin typeface="Consolas" panose="020B0609020204030204" pitchFamily="49" charset="0"/>
                <a:cs typeface="Arial" panose="020B0604020202020204" pitchFamily="34" charset="0"/>
              </a:rPr>
              <a:t>google.generativeai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) Documentation</a:t>
            </a:r>
          </a:p>
          <a:p>
            <a:pPr lvl="0">
              <a:buFont typeface="Wingdings" panose="05000000000000000000" pitchFamily="2" charset="2"/>
              <a:buChar char="q"/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Python Standard Library Documentation</a:t>
            </a:r>
          </a:p>
          <a:p>
            <a:pPr lvl="0">
              <a:buFont typeface="Wingdings" panose="05000000000000000000" pitchFamily="2" charset="2"/>
              <a:buChar char="q"/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OWASP Foundation: Server-Side Request Forgery (SSRF) Prevention guidelines.</a:t>
            </a:r>
          </a:p>
          <a:p>
            <a:pPr marL="0" indent="0">
              <a:buNone/>
            </a:pP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2895022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4D7422-ED9D-D856-C6AD-0F1A715C24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Deployment link / </a:t>
            </a:r>
            <a:r>
              <a:rPr lang="en-IN" err="1"/>
              <a:t>github</a:t>
            </a:r>
            <a:r>
              <a:rPr lang="en-IN"/>
              <a:t> link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8C47C2-EF01-12B0-99EA-861F9629D1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Font typeface="Wingdings" panose="05000000000000000000" pitchFamily="2" charset="2"/>
              <a:buChar char="q"/>
            </a:pPr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GitHub Repository: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  <a:hlinkClick r:id="rId2"/>
              </a:rPr>
              <a:t>https://github.com/sinchan85707764/PrivacyLens-AI.git</a:t>
            </a:r>
            <a:endParaRPr lang="en-IN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>
              <a:buFont typeface="Wingdings" panose="05000000000000000000" pitchFamily="2" charset="2"/>
              <a:buChar char="q"/>
            </a:pPr>
            <a:r>
              <a:rPr lang="en-IN" b="1" dirty="0" err="1">
                <a:latin typeface="Arial" panose="020B0604020202020204" pitchFamily="34" charset="0"/>
                <a:cs typeface="Arial" panose="020B0604020202020204" pitchFamily="34" charset="0"/>
              </a:rPr>
              <a:t>Streamlit</a:t>
            </a:r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 Application: </a:t>
            </a:r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  <a:hlinkClick r:id="rId3"/>
              </a:rPr>
              <a:t>https://privacylens-ai-mdzp4p687cfsgf2stwspam.streamlit.app/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>
              <a:buFont typeface="Wingdings" panose="05000000000000000000" pitchFamily="2" charset="2"/>
              <a:buChar char="q"/>
            </a:pPr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Project Technology: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Python + Streamlit + Gemini AI</a:t>
            </a:r>
          </a:p>
          <a:p>
            <a:pPr marL="0" indent="0">
              <a:buNone/>
            </a:pP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885291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BE4CA82-64EC-4D4E-A5E5-3EBB66E7B2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3041" y="2766218"/>
            <a:ext cx="9298744" cy="1325563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4066255318"/>
      </p:ext>
    </p:extLst>
  </p:cSld>
  <p:clrMapOvr>
    <a:masterClrMapping/>
  </p:clrMapOvr>
</p:sld>
</file>

<file path=ppt/theme/theme1.xml><?xml version="1.0" encoding="utf-8"?>
<a:theme xmlns:a="http://schemas.openxmlformats.org/drawingml/2006/main" name="DividendVTI">
  <a:themeElements>
    <a:clrScheme name="Blue II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Dividend">
      <a:majorFont>
        <a:latin typeface="Franklin Gothic Demi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VTI" id="{97558BDE-0B66-457C-BB6F-7B1B22DAA9B8}" vid="{F53508A3-AC60-448A-AF37-934D5F1A0D5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9162bd5b-4ed9-4da3-b376-05204580ba3f" xsi:nil="true"/>
    <_activity xmlns="9162bd5b-4ed9-4da3-b376-05204580ba3f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F1872188ABCFC48BECA6C87E8AC3285" ma:contentTypeVersion="17" ma:contentTypeDescription="Create a new document." ma:contentTypeScope="" ma:versionID="55a158675e089c6a85ab0f83b89e1a15">
  <xsd:schema xmlns:xsd="http://www.w3.org/2001/XMLSchema" xmlns:xs="http://www.w3.org/2001/XMLSchema" xmlns:p="http://schemas.microsoft.com/office/2006/metadata/properties" xmlns:ns3="9162bd5b-4ed9-4da3-b376-05204580ba3f" xmlns:ns4="c0fa2617-96bd-425d-8578-e93563fe37c5" targetNamespace="http://schemas.microsoft.com/office/2006/metadata/properties" ma:root="true" ma:fieldsID="b35f082308864fa161c4a0a9eca35eff" ns3:_="" ns4:_="">
    <xsd:import namespace="9162bd5b-4ed9-4da3-b376-05204580ba3f"/>
    <xsd:import namespace="c0fa2617-96bd-425d-8578-e93563fe37c5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AutoKeyPoints" minOccurs="0"/>
                <xsd:element ref="ns3:MediaServiceKeyPoints" minOccurs="0"/>
                <xsd:element ref="ns3:MediaServiceDateTaken" minOccurs="0"/>
                <xsd:element ref="ns3:MediaLengthInSeconds" minOccurs="0"/>
                <xsd:element ref="ns3:MediaServiceLocation" minOccurs="0"/>
                <xsd:element ref="ns3:_activity" minOccurs="0"/>
                <xsd:element ref="ns3:MediaServiceObjectDetectorVersions" minOccurs="0"/>
                <xsd:element ref="ns3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162bd5b-4ed9-4da3-b376-05204580ba3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7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8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9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MediaServiceLocation" ma:index="21" nillable="true" ma:displayName="Location" ma:internalName="MediaServiceLocation" ma:readOnly="true">
      <xsd:simpleType>
        <xsd:restriction base="dms:Text"/>
      </xsd:simpleType>
    </xsd:element>
    <xsd:element name="_activity" ma:index="22" nillable="true" ma:displayName="_activity" ma:hidden="true" ma:internalName="_activity">
      <xsd:simpleType>
        <xsd:restriction base="dms:Note"/>
      </xsd:simpleType>
    </xsd:element>
    <xsd:element name="MediaServiceObjectDetectorVersions" ma:index="23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24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0fa2617-96bd-425d-8578-e93563fe37c5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2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927BD4C1-B6B1-4715-ABF9-E660A51A4EA0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8D289AE2-D2AE-49D1-AFAC-3A79F6794255}">
  <ds:schemaRefs>
    <ds:schemaRef ds:uri="9162bd5b-4ed9-4da3-b376-05204580ba3f"/>
    <ds:schemaRef ds:uri="c0fa2617-96bd-425d-8578-e93563fe37c5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6E816721-11E4-4989-8472-AB5A7EC20404}">
  <ds:schemaRefs>
    <ds:schemaRef ds:uri="9162bd5b-4ed9-4da3-b376-05204580ba3f"/>
    <ds:schemaRef ds:uri="c0fa2617-96bd-425d-8578-e93563fe37c5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Future forward</Template>
  <TotalTime>334</TotalTime>
  <Words>904</Words>
  <Application>Microsoft Office PowerPoint</Application>
  <PresentationFormat>Widescreen</PresentationFormat>
  <Paragraphs>78</Paragraphs>
  <Slides>17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6" baseType="lpstr">
      <vt:lpstr>Arial</vt:lpstr>
      <vt:lpstr>Calibri</vt:lpstr>
      <vt:lpstr>Calibri Light</vt:lpstr>
      <vt:lpstr>Consolas</vt:lpstr>
      <vt:lpstr>Franklin Gothic Book</vt:lpstr>
      <vt:lpstr>Franklin Gothic Demi</vt:lpstr>
      <vt:lpstr>Wingdings</vt:lpstr>
      <vt:lpstr>Wingdings 2</vt:lpstr>
      <vt:lpstr>DividendVTI</vt:lpstr>
      <vt:lpstr>PrivacyLens AI: Session-Only Digital Privacy Intelligence &amp; Content Exposure Analyzer </vt:lpstr>
      <vt:lpstr>OUTLINE</vt:lpstr>
      <vt:lpstr>Problem Statement</vt:lpstr>
      <vt:lpstr>Proposed Solution</vt:lpstr>
      <vt:lpstr>System  Approach</vt:lpstr>
      <vt:lpstr>Algorithm &amp; Deployment</vt:lpstr>
      <vt:lpstr>Result:PRIVACYLENS AI ANALYSIS</vt:lpstr>
      <vt:lpstr>Result: TEXT PRIVACY ANALYSIS</vt:lpstr>
      <vt:lpstr>Result: PUBLIC FOOTPRINT ANALYSIS</vt:lpstr>
      <vt:lpstr>Result: PRIVACY SNAPSHOT</vt:lpstr>
      <vt:lpstr>Result:PRIVACY CLEANUP PLAN</vt:lpstr>
      <vt:lpstr>Result: SETTINGS &amp; SYSTEM WORKFLOW</vt:lpstr>
      <vt:lpstr>Conclusion</vt:lpstr>
      <vt:lpstr>PowerPoint Presentation</vt:lpstr>
      <vt:lpstr>References</vt:lpstr>
      <vt:lpstr>Deployment link / github link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SkillsBuild Partner Update template</dc:title>
  <dc:creator>Vaibhav Ostwal</dc:creator>
  <cp:lastModifiedBy>sinchan sahoo</cp:lastModifiedBy>
  <cp:revision>14</cp:revision>
  <dcterms:created xsi:type="dcterms:W3CDTF">2021-05-26T16:50:10Z</dcterms:created>
  <dcterms:modified xsi:type="dcterms:W3CDTF">2026-09-14T14:27:35Z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0x0101000F1872188ABCFC48BECA6C87E8AC3285</vt:lpwstr>
  </property>
</Properties>
</file>